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github.com/Juarmita/tfm-trading-bot"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illinger.io" TargetMode="External" /><Relationship Id="rId3" Type="http://schemas.openxmlformats.org/officeDocument/2006/relationships/hyperlink" Target="https://marp.app/"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Presentación Ejecutiva — TFM Trading Bot v1.0</a:t>
            </a:r>
          </a:p>
        </p:txBody>
      </p:sp>
      <p:sp>
        <p:nvSpPr>
          <p:cNvPr id="3" name="Content Placeholder 2"/>
          <p:cNvSpPr>
            <a:spLocks noGrp="1"/>
          </p:cNvSpPr>
          <p:nvPr>
            <p:ph idx="1"/>
          </p:nvPr>
        </p:nvSpPr>
        <p:spPr/>
        <p:txBody>
          <a:bodyPr/>
          <a:lstStyle/>
          <a:p>
            <a:pPr lvl="0" indent="0" marL="1270000">
              <a:buNone/>
            </a:pPr>
            <a:r>
              <a:rPr sz="2000" b="1"/>
              <a:t>Resumen técnico en una página</a:t>
            </a:r>
            <a:r>
              <a:rPr sz="2000"/>
              <a:t> · Listo para exportar a PDF</a:t>
            </a:r>
            <a:br/>
            <a:r>
              <a:rPr sz="2000"/>
              <a:t>Autor: Juan Manuel Garcia Jurado · Curso 2025/2026</a:t>
            </a:r>
            <a:br/>
            <a:r>
              <a:rPr sz="2000"/>
              <a:t>Exportación: </a:t>
            </a:r>
            <a:r>
              <a:rPr sz="2000">
                <a:latin typeface="Courier"/>
              </a:rPr>
              <a:t>Ctrl+Shift+P</a:t>
            </a:r>
            <a:r>
              <a:rPr sz="2000"/>
              <a:t> → “Markdown: Export to PDF” (VSCode) o </a:t>
            </a:r>
            <a:r>
              <a:rPr sz="2000">
                <a:latin typeface="Courier"/>
              </a:rPr>
              <a:t>pandoc docs/presentacion_ejecutiva.md -o docs/presentacion_ejecutiva.pdf</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Resumen del Proyecto</a:t>
            </a:r>
          </a:p>
          <a:p>
            <a:pPr lvl="0" indent="0" marL="0">
              <a:buNone/>
            </a:pPr>
            <a:r>
              <a:rPr b="1"/>
              <a:t>Título</a:t>
            </a:r>
            <a:r>
              <a:rPr/>
              <a:t>: </a:t>
            </a:r>
            <a:r>
              <a:rPr i="1"/>
              <a:t>Sistema de Inversión Automatizada Cuantitativa con Razonamiento Asistido por IA y Arquitectura Desacoplada de Brokers</a:t>
            </a:r>
          </a:p>
          <a:p>
            <a:pPr lvl="0" indent="0" marL="0">
              <a:buNone/>
            </a:pPr>
            <a:r>
              <a:rPr b="1"/>
              <a:t>Problema</a:t>
            </a:r>
            <a:r>
              <a:rPr/>
              <a:t>: Los sistemas de trading algorítmico comerciales operan como “cajas negras”, impidiendo al inversor retail comprender las razones de las decisiones de inversión y los riesgos asumidos.</a:t>
            </a:r>
          </a:p>
          <a:p>
            <a:pPr lvl="0" indent="0" marL="0">
              <a:buNone/>
            </a:pPr>
            <a:r>
              <a:rPr b="1"/>
              <a:t>Solución</a:t>
            </a:r>
            <a:r>
              <a:rPr/>
              <a:t>: Plataforma web completa que combina un motor cuantitativo explicativo con gestión dinámica de riesgos, generando justificaciones algorítmicas en lenguaje natural para cada decisión de inversión. La arquitectura desacoplada mediante el patrón Adapter permite migrar de un simulador demo a un broker real sin modificar la lógica de negocio.</a:t>
            </a:r>
          </a:p>
          <a:p>
            <a:pPr lvl="0" indent="0" marL="0">
              <a:buNone/>
            </a:pPr>
            <a:r>
              <a:rPr b="1"/>
              <a:t>Resultado</a:t>
            </a:r>
            <a:r>
              <a:rPr/>
              <a:t>: Sistema funcional desplegado en producción con análisis en tiempo real de mercados internacionales (NYSE, LSE, XETRA, BME, Euronext), conversión automática multidivisa, portafolio consolidado y 18 tests unitarios automatizados en CI/CD.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Diagrama de Arquitectura Final</a:t>
            </a:r>
          </a:p>
          <a:p>
            <a:pPr lvl="0" indent="0">
              <a:buNone/>
            </a:pPr>
            <a:r>
              <a:rPr>
                <a:latin typeface="Courier"/>
              </a:rPr>
              <a:t>┌─────────────────────────────────────────────────────────────────────────────┐
│                           USUARIO (Navegador)                              │
│  ┌─────────┐  ┌──────────┐  ┌──────────────┐  ┌────────────────────────┐  │
│  │ Landing  │  │  Login   │  │  Dashboard   │  │   Invest + Portfolio   │  │
│  │ page.tsx │  │ page.tsx │  │  page.tsx     │  │   page.tsx (x2)        │  │
│  └────┬─────┘  └────┬─────┘  └──────┬───────┘  └───────────┬────────────┘  │
│       │              │               │                      │               │
│       └──────────────┴───────────────┴──────────────────────┘               │
│                              │ HTTPS                                        │
└──────────────────────────────┼──────────────────────────────────────────────┘
                               ▼
┌──────────────────────────────────────────────────────────────────────────────┐
│                    NEXT.JS 15 SERVER (Vercel Edge)                          │
│  ┌─────────────────────────────────────────────────────────────────────┐    │
│  │  middleware.ts          → Protección de rutas por cookie Supabase   │    │
│  │  api/trading/analyze    → Proxy POST + Bearer token injection      │    │
│  │  api/trading/portfolio  → Proxy GET  + Bearer token injection      │    │
│  │  api/market/[...path]   → Proxy de datos de mercado                │    │
│  └─────────────────────────────────┬───────────────────────────────────┘    │
└────────────────────────────────────┼────────────────────────────────────────┘
                                     │ HTTPS (Bearer JWT)
                                     ▼
┌──────────────────────────────────────────────────────────────────────────────┐
│                    FASTAPI BACKEND (Render.com)                             │
│  ┌───────────────────────────────────────────────────────────────────────┐  │
│  │  trading.py  →  get_current_user_id()  →  Verifica firma JWT HS256  │  │
│  │              →  POST /analyze  →  AIEngine.analyze()                 │  │
│  │              →  GET /portfolio/{id}  →  Cálculo posiciones en vivo   │  │
│  └───────────────────────┬─────────────────────────┬─────────────────────┘  │
│                          │                         │                        │
│  ┌───────────────────────▼───────┐  ┌──────────────▼────────────────────┐   │
│  │      AIEngine (services/)     │  │    MarketDataService (services/)  │   │
│  │  ├─ Scoring dual (LT / ST)   │  │  ├─ yfinance: quotes, history    │   │
│  │  ├─ Penalizaciones de riesgo  │  │  ├─ Caché en memoria (TTL 5min) │   │
│  │  ├─ Markdown explicativo      │  │  └─ Forex: GBp→USD, EUR→USD     │   │
│  │  └─ Plan de ejecución         │  └─────────────────────────────────┘   │
│  └───────────────┬───────────────┘                                         │
│                  │                                                          │
│  ┌───────────────▼───────────────┐                                         │
│  │  OrderExecutor → IBrokerAdapter │ ← Dependency Injection               │
│  │         ┌─────────┴──────────┐  │                                       │
│  │         │   DemoBroker       │  │  (Sustituible por AlpacaBroker,       │
│  │         │   ├─ Slippage sim  │  │   IBKRBroker sin cambios de código)  │
│  │         │   ├─ Latency sim   │  │                                       │
│  │         │   └─ ACID write    │  │                                       │
│  │         └────────────────────┘  │                                       │
│  └─────────────────────────────────┘                                       │
└──────────────────────────────┬─────────────────────────────────────────────┘
                               │ PostgreSQL (SSL)
                               ▼
┌──────────────────────────────────────────────────────────────────────────────┐
│                    SUPABASE (PostgreSQL + Auth + Realtime)                  │
│  ┌─────────────┐  ┌─────────────┐  ┌──────────────────────┐               │
│  │   wallets   │  │   trades    │  │  ai_trading_sessions │               │
│  │  (balance)  │  │  (historial)│  │  (sesiones IA)       │               │
│  └─────────────┘  └─────────────┘  └──────────────────────┘               │
│  Row Level Security (RLS) activo · Supabase Realtime para wallet updates  │
└──────────────────────────────────────────────────────────────────────────────┘</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3. Tabla de Cumplimiento TFM → Entregables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Criterio del Tribunal</a:t>
                      </a:r>
                    </a:p>
                  </a:txBody>
                  <a:tcPr/>
                </a:tc>
                <a:tc>
                  <a:txBody>
                    <a:bodyPr/>
                    <a:lstStyle/>
                    <a:p>
                      <a:pPr lvl="0" indent="0" marL="0">
                        <a:buNone/>
                      </a:pPr>
                      <a:r>
                        <a:rPr/>
                        <a:t>Entregable</a:t>
                      </a:r>
                    </a:p>
                  </a:txBody>
                  <a:tcPr/>
                </a:tc>
                <a:tc>
                  <a:txBody>
                    <a:bodyPr/>
                    <a:lstStyle/>
                    <a:p>
                      <a:pPr lvl="0" indent="0" marL="0">
                        <a:buNone/>
                      </a:pPr>
                      <a:r>
                        <a:rPr/>
                        <a:t>Ubicación</a:t>
                      </a:r>
                    </a:p>
                  </a:txBody>
                  <a:tcPr/>
                </a:tc>
              </a:tr>
              <a:tr h="0">
                <a:tc>
                  <a:txBody>
                    <a:bodyPr/>
                    <a:lstStyle/>
                    <a:p>
                      <a:pPr lvl="0" indent="0" marL="0">
                        <a:buNone/>
                      </a:pPr>
                      <a:r>
                        <a:rPr b="1"/>
                        <a:t>1a. Código fuente</a:t>
                      </a:r>
                    </a:p>
                  </a:txBody>
                </a:tc>
                <a:tc>
                  <a:txBody>
                    <a:bodyPr/>
                    <a:lstStyle/>
                    <a:p>
                      <a:pPr lvl="0" indent="0" marL="0">
                        <a:buNone/>
                      </a:pPr>
                      <a:r>
                        <a:rPr/>
                        <a:t>Monorepo completo con separación frontend/backend</a:t>
                      </a:r>
                    </a:p>
                  </a:txBody>
                </a:tc>
                <a:tc>
                  <a:txBody>
                    <a:bodyPr/>
                    <a:lstStyle/>
                    <a:p>
                      <a:pPr lvl="0" indent="0" marL="0">
                        <a:buNone/>
                      </a:pPr>
                      <a:r>
                        <a:rPr>
                          <a:latin typeface="Courier"/>
                        </a:rPr>
                        <a:t>/backend/</a:t>
                      </a:r>
                      <a:r>
                        <a:rPr/>
                        <a:t>, </a:t>
                      </a:r>
                      <a:r>
                        <a:rPr>
                          <a:latin typeface="Courier"/>
                        </a:rPr>
                        <a:t>/frontend/</a:t>
                      </a:r>
                    </a:p>
                  </a:txBody>
                </a:tc>
              </a:tr>
              <a:tr h="0">
                <a:tc>
                  <a:txBody>
                    <a:bodyPr/>
                    <a:lstStyle/>
                    <a:p>
                      <a:pPr lvl="0" indent="0" marL="0">
                        <a:buNone/>
                      </a:pPr>
                      <a:r>
                        <a:rPr b="1"/>
                        <a:t>1b. Tests unitarios</a:t>
                      </a:r>
                    </a:p>
                  </a:txBody>
                </a:tc>
                <a:tc>
                  <a:txBody>
                    <a:bodyPr/>
                    <a:lstStyle/>
                    <a:p>
                      <a:pPr lvl="0" indent="0" marL="0">
                        <a:buNone/>
                      </a:pPr>
                      <a:r>
                        <a:rPr/>
                        <a:t>18 tests con cobertura 100% en CI</a:t>
                      </a:r>
                    </a:p>
                  </a:txBody>
                </a:tc>
                <a:tc>
                  <a:txBody>
                    <a:bodyPr/>
                    <a:lstStyle/>
                    <a:p>
                      <a:pPr lvl="0" indent="0" marL="0">
                        <a:buNone/>
                      </a:pPr>
                      <a:r>
                        <a:rPr>
                          <a:latin typeface="Courier"/>
                        </a:rPr>
                        <a:t>/backend/tests/</a:t>
                      </a:r>
                    </a:p>
                  </a:txBody>
                </a:tc>
              </a:tr>
              <a:tr h="0">
                <a:tc>
                  <a:txBody>
                    <a:bodyPr/>
                    <a:lstStyle/>
                    <a:p>
                      <a:pPr lvl="0" indent="0" marL="0">
                        <a:buNone/>
                      </a:pPr>
                      <a:r>
                        <a:rPr b="1"/>
                        <a:t>1c. Seguridad</a:t>
                      </a:r>
                    </a:p>
                  </a:txBody>
                </a:tc>
                <a:tc>
                  <a:txBody>
                    <a:bodyPr/>
                    <a:lstStyle/>
                    <a:p>
                      <a:pPr lvl="0" indent="0" marL="0">
                        <a:buNone/>
                      </a:pPr>
                      <a:r>
                        <a:rPr/>
                        <a:t>Auditoría completa + JWT + CORS + RLS</a:t>
                      </a:r>
                    </a:p>
                  </a:txBody>
                </a:tc>
                <a:tc>
                  <a:txBody>
                    <a:bodyPr/>
                    <a:lstStyle/>
                    <a:p>
                      <a:pPr lvl="0" indent="0" marL="0">
                        <a:buNone/>
                      </a:pPr>
                      <a:r>
                        <a:rPr>
                          <a:latin typeface="Courier"/>
                        </a:rPr>
                        <a:t>docs/security_audit_report.md</a:t>
                      </a:r>
                    </a:p>
                  </a:txBody>
                </a:tc>
              </a:tr>
              <a:tr h="0">
                <a:tc>
                  <a:txBody>
                    <a:bodyPr/>
                    <a:lstStyle/>
                    <a:p>
                      <a:pPr lvl="0" indent="0" marL="0">
                        <a:buNone/>
                      </a:pPr>
                      <a:r>
                        <a:rPr b="1"/>
                        <a:t>1d. Calidad de código</a:t>
                      </a:r>
                    </a:p>
                  </a:txBody>
                </a:tc>
                <a:tc>
                  <a:txBody>
                    <a:bodyPr/>
                    <a:lstStyle/>
                    <a:p>
                      <a:pPr lvl="0" indent="0" marL="0">
                        <a:buNone/>
                      </a:pPr>
                      <a:r>
                        <a:rPr/>
                        <a:t>ruff ✓, black ✓, tsc ✓, ESLint ✓</a:t>
                      </a:r>
                    </a:p>
                  </a:txBody>
                </a:tc>
                <a:tc>
                  <a:txBody>
                    <a:bodyPr/>
                    <a:lstStyle/>
                    <a:p>
                      <a:pPr lvl="0" indent="0" marL="0">
                        <a:buNone/>
                      </a:pPr>
                      <a:r>
                        <a:rPr/>
                        <a:t>CI pipeline </a:t>
                      </a:r>
                      <a:r>
                        <a:rPr>
                          <a:latin typeface="Courier"/>
                        </a:rPr>
                        <a:t>.github/workflows/ci.yml</a:t>
                      </a:r>
                    </a:p>
                  </a:txBody>
                </a:tc>
              </a:tr>
              <a:tr h="0">
                <a:tc>
                  <a:txBody>
                    <a:bodyPr/>
                    <a:lstStyle/>
                    <a:p>
                      <a:pPr lvl="0" indent="0" marL="0">
                        <a:buNone/>
                      </a:pPr>
                      <a:r>
                        <a:rPr b="1"/>
                        <a:t>1e. Documentación</a:t>
                      </a:r>
                    </a:p>
                  </a:txBody>
                </a:tc>
                <a:tc>
                  <a:txBody>
                    <a:bodyPr/>
                    <a:lstStyle/>
                    <a:p>
                      <a:pPr lvl="0" indent="0" marL="0">
                        <a:buNone/>
                      </a:pPr>
                      <a:r>
                        <a:rPr/>
                        <a:t>README, DEPLOY, defensa, compliance</a:t>
                      </a:r>
                    </a:p>
                  </a:txBody>
                </a:tc>
                <a:tc>
                  <a:txBody>
                    <a:bodyPr/>
                    <a:lstStyle/>
                    <a:p>
                      <a:pPr lvl="0" indent="0" marL="0">
                        <a:buNone/>
                      </a:pPr>
                      <a:r>
                        <a:rPr>
                          <a:latin typeface="Courier"/>
                        </a:rPr>
                        <a:t>/docs/</a:t>
                      </a:r>
                      <a:r>
                        <a:rPr/>
                        <a:t>, </a:t>
                      </a:r>
                      <a:r>
                        <a:rPr>
                          <a:latin typeface="Courier"/>
                        </a:rPr>
                        <a:t>README.md</a:t>
                      </a:r>
                      <a:r>
                        <a:rPr/>
                        <a:t>, </a:t>
                      </a:r>
                      <a:r>
                        <a:rPr>
                          <a:latin typeface="Courier"/>
                        </a:rPr>
                        <a:t>DEPLOY.md</a:t>
                      </a:r>
                    </a:p>
                  </a:txBody>
                </a:tc>
              </a:tr>
              <a:tr h="0">
                <a:tc>
                  <a:txBody>
                    <a:bodyPr/>
                    <a:lstStyle/>
                    <a:p>
                      <a:pPr lvl="0" indent="0" marL="0">
                        <a:buNone/>
                      </a:pPr>
                      <a:r>
                        <a:rPr b="1"/>
                        <a:t>2. Repositorio Git</a:t>
                      </a:r>
                    </a:p>
                  </a:txBody>
                </a:tc>
                <a:tc>
                  <a:txBody>
                    <a:bodyPr/>
                    <a:lstStyle/>
                    <a:p>
                      <a:pPr lvl="0" indent="0" marL="0">
                        <a:buNone/>
                      </a:pPr>
                      <a:r>
                        <a:rPr/>
                        <a:t>Repositorio público con historial de commits</a:t>
                      </a:r>
                    </a:p>
                  </a:txBody>
                </a:tc>
                <a:tc>
                  <a:txBody>
                    <a:bodyPr/>
                    <a:lstStyle/>
                    <a:p>
                      <a:pPr lvl="0" indent="0" marL="0">
                        <a:buNone/>
                      </a:pPr>
                      <a:r>
                        <a:rPr>
                          <a:hlinkClick r:id="rId2"/>
                        </a:rPr>
                        <a:t>GitHub</a:t>
                      </a:r>
                    </a:p>
                  </a:txBody>
                </a:tc>
              </a:tr>
              <a:tr h="0">
                <a:tc>
                  <a:txBody>
                    <a:bodyPr/>
                    <a:lstStyle/>
                    <a:p>
                      <a:pPr lvl="0" indent="0" marL="0">
                        <a:buNone/>
                      </a:pPr>
                      <a:r>
                        <a:rPr b="1"/>
                        <a:t>3. Deploy</a:t>
                      </a:r>
                    </a:p>
                  </a:txBody>
                </a:tc>
                <a:tc>
                  <a:txBody>
                    <a:bodyPr/>
                    <a:lstStyle/>
                    <a:p>
                      <a:pPr lvl="0" indent="0" marL="0">
                        <a:buNone/>
                      </a:pPr>
                      <a:r>
                        <a:rPr/>
                        <a:t>Frontend (Vercel) + Backend (Render) operativos</a:t>
                      </a:r>
                    </a:p>
                  </a:txBody>
                </a:tc>
                <a:tc>
                  <a:txBody>
                    <a:bodyPr/>
                    <a:lstStyle/>
                    <a:p>
                      <a:pPr lvl="0" indent="0" marL="0">
                        <a:buNone/>
                      </a:pPr>
                      <a:r>
                        <a:rPr/>
                        <a:t>Enlaces en README.md §3</a:t>
                      </a:r>
                    </a:p>
                  </a:txBody>
                </a:tc>
              </a:tr>
              <a:tr h="0">
                <a:tc>
                  <a:txBody>
                    <a:bodyPr/>
                    <a:lstStyle/>
                    <a:p>
                      <a:pPr lvl="0" indent="0" marL="0">
                        <a:buNone/>
                      </a:pPr>
                      <a:r>
                        <a:rPr b="1"/>
                        <a:t>4. Defensa</a:t>
                      </a:r>
                    </a:p>
                  </a:txBody>
                </a:tc>
                <a:tc>
                  <a:txBody>
                    <a:bodyPr/>
                    <a:lstStyle/>
                    <a:p>
                      <a:pPr lvl="0" indent="0" marL="0">
                        <a:buNone/>
                      </a:pPr>
                      <a:r>
                        <a:rPr/>
                        <a:t>Presentación + Q&amp;A preparadas</a:t>
                      </a:r>
                    </a:p>
                  </a:txBody>
                </a:tc>
                <a:tc>
                  <a:txBody>
                    <a:bodyPr/>
                    <a:lstStyle/>
                    <a:p>
                      <a:pPr lvl="0" indent="0" marL="0">
                        <a:buNone/>
                      </a:pPr>
                      <a:r>
                        <a:rPr>
                          <a:latin typeface="Courier"/>
                        </a:rPr>
                        <a:t>docs/presentacion_defensa.md</a:t>
                      </a:r>
                      <a:r>
                        <a:rPr/>
                        <a:t>, </a:t>
                      </a:r>
                      <a:r>
                        <a:rPr>
                          <a:latin typeface="Courier"/>
                        </a:rPr>
                        <a:t>docs/defense_qa_prep.md</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4. Tecnologías Clave y Justificación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Tecnología</a:t>
                      </a:r>
                    </a:p>
                  </a:txBody>
                  <a:tcPr/>
                </a:tc>
                <a:tc>
                  <a:txBody>
                    <a:bodyPr/>
                    <a:lstStyle/>
                    <a:p>
                      <a:pPr lvl="0" indent="0" marL="0">
                        <a:buNone/>
                      </a:pPr>
                      <a:r>
                        <a:rPr/>
                        <a:t>Justificación de Elección</a:t>
                      </a:r>
                    </a:p>
                  </a:txBody>
                  <a:tcPr/>
                </a:tc>
              </a:tr>
              <a:tr h="0">
                <a:tc>
                  <a:txBody>
                    <a:bodyPr/>
                    <a:lstStyle/>
                    <a:p>
                      <a:pPr lvl="0" indent="0" marL="0">
                        <a:buNone/>
                      </a:pPr>
                      <a:r>
                        <a:rPr b="1"/>
                        <a:t>FastAPI</a:t>
                      </a:r>
                    </a:p>
                  </a:txBody>
                </a:tc>
                <a:tc>
                  <a:txBody>
                    <a:bodyPr/>
                    <a:lstStyle/>
                    <a:p>
                      <a:pPr lvl="0" indent="0" marL="0">
                        <a:buNone/>
                      </a:pPr>
                      <a:r>
                        <a:rPr/>
                        <a:t>Framework asíncrono de alto rendimiento con documentación OpenAPI automática, ideal para APIs financieras</a:t>
                      </a:r>
                    </a:p>
                  </a:txBody>
                </a:tc>
              </a:tr>
              <a:tr h="0">
                <a:tc>
                  <a:txBody>
                    <a:bodyPr/>
                    <a:lstStyle/>
                    <a:p>
                      <a:pPr lvl="0" indent="0" marL="0">
                        <a:buNone/>
                      </a:pPr>
                      <a:r>
                        <a:rPr b="1"/>
                        <a:t>Next.js 15</a:t>
                      </a:r>
                    </a:p>
                  </a:txBody>
                </a:tc>
                <a:tc>
                  <a:txBody>
                    <a:bodyPr/>
                    <a:lstStyle/>
                    <a:p>
                      <a:pPr lvl="0" indent="0" marL="0">
                        <a:buNone/>
                      </a:pPr>
                      <a:r>
                        <a:rPr/>
                        <a:t>Server-side rendering para proxy seguro (secrets nunca llegan al browser) + deploy instantáneo en Vercel</a:t>
                      </a:r>
                    </a:p>
                  </a:txBody>
                </a:tc>
              </a:tr>
              <a:tr h="0">
                <a:tc>
                  <a:txBody>
                    <a:bodyPr/>
                    <a:lstStyle/>
                    <a:p>
                      <a:pPr lvl="0" indent="0" marL="0">
                        <a:buNone/>
                      </a:pPr>
                      <a:r>
                        <a:rPr b="1"/>
                        <a:t>Supabase</a:t>
                      </a:r>
                    </a:p>
                  </a:txBody>
                </a:tc>
                <a:tc>
                  <a:txBody>
                    <a:bodyPr/>
                    <a:lstStyle/>
                    <a:p>
                      <a:pPr lvl="0" indent="0" marL="0">
                        <a:buNone/>
                      </a:pPr>
                      <a:r>
                        <a:rPr/>
                        <a:t>PostgreSQL administrado con Auth integrado, Realtime y Row Level Security — elimina la necesidad de implementar un sistema de autenticación propio</a:t>
                      </a:r>
                    </a:p>
                  </a:txBody>
                </a:tc>
              </a:tr>
              <a:tr h="0">
                <a:tc>
                  <a:txBody>
                    <a:bodyPr/>
                    <a:lstStyle/>
                    <a:p>
                      <a:pPr lvl="0" indent="0" marL="0">
                        <a:buNone/>
                      </a:pPr>
                      <a:r>
                        <a:rPr b="1"/>
                        <a:t>yfinance</a:t>
                      </a:r>
                    </a:p>
                  </a:txBody>
                </a:tc>
                <a:tc>
                  <a:txBody>
                    <a:bodyPr/>
                    <a:lstStyle/>
                    <a:p>
                      <a:pPr lvl="0" indent="0" marL="0">
                        <a:buNone/>
                      </a:pPr>
                      <a:r>
                        <a:rPr/>
                        <a:t>Acceso gratuito a datos de mercado en tiempo real de Yahoo Finance sin necesidad de API key de pago</a:t>
                      </a:r>
                    </a:p>
                  </a:txBody>
                </a:tc>
              </a:tr>
              <a:tr h="0">
                <a:tc>
                  <a:txBody>
                    <a:bodyPr/>
                    <a:lstStyle/>
                    <a:p>
                      <a:pPr lvl="0" indent="0" marL="0">
                        <a:buNone/>
                      </a:pPr>
                      <a:r>
                        <a:rPr b="1"/>
                        <a:t>Patrón Adapter</a:t>
                      </a:r>
                    </a:p>
                  </a:txBody>
                </a:tc>
                <a:tc>
                  <a:txBody>
                    <a:bodyPr/>
                    <a:lstStyle/>
                    <a:p>
                      <a:pPr lvl="0" indent="0" marL="0">
                        <a:buNone/>
                      </a:pPr>
                      <a:r>
                        <a:rPr/>
                        <a:t>Desacopla la lógica cuantitativa del broker concreto, permitiendo migración a producción real sin refactorización</a:t>
                      </a:r>
                    </a:p>
                  </a:txBody>
                </a:tc>
              </a:tr>
              <a:tr h="0">
                <a:tc>
                  <a:txBody>
                    <a:bodyPr/>
                    <a:lstStyle/>
                    <a:p>
                      <a:pPr lvl="0" indent="0" marL="0">
                        <a:buNone/>
                      </a:pPr>
                      <a:r>
                        <a:rPr b="1"/>
                        <a:t>GitHub Actions</a:t>
                      </a:r>
                    </a:p>
                  </a:txBody>
                </a:tc>
                <a:tc>
                  <a:txBody>
                    <a:bodyPr/>
                    <a:lstStyle/>
                    <a:p>
                      <a:pPr lvl="0" indent="0" marL="0">
                        <a:buNone/>
                      </a:pPr>
                      <a:r>
                        <a:rPr/>
                        <a:t>CI/CD integrado con el repositorio, ejecuta lint + test + build en cada push</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Agradecimientos Institucionales</a:t>
            </a:r>
          </a:p>
          <a:p>
            <a:pPr lvl="0" indent="0" marL="0">
              <a:buNone/>
            </a:pPr>
            <a:r>
              <a:rPr/>
              <a:t>Este Trabajo de Fin de Máster ha sido desarrollado en el marco del programa de Máster de la Universidad, bajo la supervisión académica correspondiente.</a:t>
            </a:r>
          </a:p>
          <a:p>
            <a:pPr lvl="0" indent="0" marL="0">
              <a:buNone/>
            </a:pPr>
            <a:r>
              <a:rPr/>
              <a:t>Agradecimientos especiales a: - </a:t>
            </a:r>
            <a:r>
              <a:rPr b="1"/>
              <a:t>Tribunal evaluador</a:t>
            </a:r>
            <a:r>
              <a:rPr/>
              <a:t> por su dedicación en la revisión y retroalimentación del proyecto. - </a:t>
            </a:r>
            <a:r>
              <a:rPr b="1"/>
              <a:t>Comunidad open source</a:t>
            </a:r>
            <a:r>
              <a:rPr/>
              <a:t> de FastAPI, Next.js, Supabase y yfinance por las herramientas que hicieron posible este desarrollo. - </a:t>
            </a:r>
            <a:r>
              <a:rPr b="1"/>
              <a:t>Universidad</a:t>
            </a:r>
            <a:r>
              <a:rPr/>
              <a:t> por proporcionar el marco académico y los recursos necesarios para la investigación aplicada en finanzas cuantitativas e Inteligencia Artificial.</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Instrucciones de exportación a PDF</a:t>
            </a:r>
            <a:r>
              <a:rPr sz="2000"/>
              <a:t>:</a:t>
            </a:r>
            <a:br/>
            <a:r>
              <a:rPr sz="2000"/>
              <a:t>- </a:t>
            </a:r>
            <a:r>
              <a:rPr sz="2000" b="1"/>
              <a:t>VSCode</a:t>
            </a:r>
            <a:r>
              <a:rPr sz="2000"/>
              <a:t>: Instalar extensión “Markdown PDF” → </a:t>
            </a:r>
            <a:r>
              <a:rPr sz="2000">
                <a:latin typeface="Courier"/>
              </a:rPr>
              <a:t>Ctrl+Shift+P</a:t>
            </a:r>
            <a:r>
              <a:rPr sz="2000"/>
              <a:t> → “Markdown PDF: Export (pdf)”</a:t>
            </a:r>
            <a:br/>
            <a:r>
              <a:rPr sz="2000"/>
              <a:t>- </a:t>
            </a:r>
            <a:r>
              <a:rPr sz="2000" b="1"/>
              <a:t>CLI</a:t>
            </a:r>
            <a:r>
              <a:rPr sz="2000"/>
              <a:t>: </a:t>
            </a:r>
            <a:r>
              <a:rPr sz="2000">
                <a:latin typeface="Courier"/>
              </a:rPr>
              <a:t>pandoc docs/presentacion_ejecutiva.md -o docs/presentacion_ejecutiva.pdf --pdf-engine=xelatex</a:t>
            </a:r>
            <a:br/>
            <a:r>
              <a:rPr sz="2000"/>
              <a:t>- </a:t>
            </a:r>
            <a:r>
              <a:rPr sz="2000" b="1"/>
              <a:t>Web</a:t>
            </a:r>
            <a:r>
              <a:rPr sz="2000"/>
              <a:t>: Pegar en </a:t>
            </a:r>
            <a:r>
              <a:rPr sz="2000">
                <a:hlinkClick r:id="rId2"/>
              </a:rPr>
              <a:t>https://dillinger.io</a:t>
            </a:r>
            <a:r>
              <a:rPr sz="2000"/>
              <a:t> → Export as PDF</a:t>
            </a:r>
          </a:p>
          <a:p>
            <a:pPr lvl="0" indent="0" marL="1270000">
              <a:buNone/>
            </a:pPr>
            <a:r>
              <a:rPr sz="2000" b="1"/>
              <a:t>Instrucciones de exportación a PPT</a:t>
            </a:r>
            <a:r>
              <a:rPr sz="2000"/>
              <a:t>:</a:t>
            </a:r>
            <a:br/>
            <a:r>
              <a:rPr sz="2000"/>
              <a:t>- </a:t>
            </a:r>
            <a:r>
              <a:rPr sz="2000">
                <a:latin typeface="Courier"/>
              </a:rPr>
              <a:t>pandoc docs/presentacion_ejecutiva.md -o docs/presentacion_ejecutiva.pptx</a:t>
            </a:r>
            <a:br/>
            <a:r>
              <a:rPr sz="2000"/>
              <a:t>- O usar </a:t>
            </a:r>
            <a:r>
              <a:rPr sz="2000">
                <a:hlinkClick r:id="rId3"/>
              </a:rPr>
              <a:t>Marp</a:t>
            </a:r>
            <a:r>
              <a:rPr sz="2000"/>
              <a:t> con directivas </a:t>
            </a:r>
            <a:r>
              <a:rPr sz="2000">
                <a:latin typeface="Courier"/>
              </a:rPr>
              <a:t>&lt;!-- slide --&gt;</a:t>
            </a:r>
            <a:r>
              <a:rPr sz="2000"/>
              <a:t> para slides individuales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2026-07-20T21:01:16Z</dcterms:created>
  <dcterms:modified xsi:type="dcterms:W3CDTF">2026-07-20T21:01:16Z</dcterms:modified>
</cp:coreProperties>
</file>

<file path=docProps/custom.xml><?xml version="1.0" encoding="utf-8"?>
<Properties xmlns="http://schemas.openxmlformats.org/officeDocument/2006/custom-properties" xmlns:vt="http://schemas.openxmlformats.org/officeDocument/2006/docPropsVTypes"/>
</file>